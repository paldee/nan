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0"/>
            <a:ext cx="5513832" cy="6858000"/>
          </a:xfrm>
          <a:prstGeom prst="roundRect">
            <a:avLst>
              <a:gd name="adj" fmla="val 1990"/>
            </a:avLst>
          </a:prstGeom>
          <a:solidFill>
            <a:srgbClr val="2C4A2C"/>
          </a:solidFill>
          <a:ln w="15875">
            <a:solidFill>
              <a:srgbClr val="6E8F52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812280" y="6355080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ใส่ภาพ: </a:t>
            </a:r>
            <a:pPr algn="ctr" indent="0" marL="0">
              <a:buNone/>
            </a:pPr>
            <a:r>
              <a:rPr lang="en-US" sz="11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ทุ่งนาเขียวขจี น่าน (โทนมืดคลุมด้วย overlay เขียว)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75120" y="0"/>
            <a:ext cx="5513832" cy="6858000"/>
          </a:xfrm>
          <a:prstGeom prst="rect">
            <a:avLst/>
          </a:prstGeom>
          <a:solidFill>
            <a:srgbClr val="1F3320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 · จังหวัดน่าน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37744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 Beyond AI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D8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ค้นพบน่านในทุกฤดูกาล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D8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ด้วย AI ผู้เล่าเรื่องท้องถิ่น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58368" y="5074920"/>
            <a:ext cx="146304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2578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แผนเที่ยวที่ปรับตามฤดูกาลจริง กระจายรายได้สู่ชุมชนตลอดทั้งปี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ทำไมต้องเป็นตอนนี้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น่านสวยทุกเดือน... แต่นักท่องเที่ยวมาแค่ 3 เดือน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ช่วงพีค (ธ.ค.-ก.พ.) ที่พักแน่น ส่วนฤดูอื่นกลับเงียบเหงา ทั้งที่แต่ละฤดูกาลของน่านมีเสน่ห่ไม่แพ้กัน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691640" cy="18288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D6C8"/>
            </a:solidFill>
            <a:prstDash val="solid"/>
          </a:ln>
          <a:effectLst>
            <a:outerShdw sx="100000" sy="100000" kx="0" ky="0" algn="bl" rotWithShape="0" blurRad="76200" dist="25400" dir="5400000">
              <a:srgbClr val="88887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30632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85-100%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อัตราเข้าพัก ปัว/บ่อเกลือ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ช่วงหน้าหนาว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23160" y="2834640"/>
            <a:ext cx="1691640" cy="18288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D6C8"/>
            </a:solidFill>
            <a:prstDash val="solid"/>
          </a:ln>
          <a:effectLst>
            <a:outerShdw sx="100000" sy="100000" kx="0" ky="0" algn="bl" rotWithShape="0" blurRad="76200" dist="25400" dir="5400000">
              <a:srgbClr val="88887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30632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5E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14600" y="37490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นักท่องเที่ยวลดลง เมื่อเศรษฐกิจ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ผันผวน (สะปัน/บ่อเกลือ)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2834640"/>
            <a:ext cx="1691640" cy="18288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D6C8"/>
            </a:solidFill>
            <a:prstDash val="solid"/>
          </a:ln>
          <a:effectLst>
            <a:outerShdw sx="100000" sy="100000" kx="0" ky="0" algn="bl" rotWithShape="0" blurRad="76200" dist="25400" dir="5400000">
              <a:srgbClr val="88887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97680" y="30632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389120" y="37490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เดือนที่เหลือ ยังรอการ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ค้นพบจากนักเดินทาง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55080" y="1600200"/>
            <a:ext cx="5285232" cy="4709160"/>
          </a:xfrm>
          <a:prstGeom prst="roundRect">
            <a:avLst>
              <a:gd name="adj" fmla="val 2330"/>
            </a:avLst>
          </a:prstGeom>
          <a:solidFill>
            <a:srgbClr val="E7ECE0"/>
          </a:solidFill>
          <a:ln w="15875">
            <a:solidFill>
              <a:srgbClr val="6E8F52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492240" y="5806440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ใส่ภาพ: </a:t>
            </a:r>
            <a:pPr algn="ctr" indent="0" marL="0">
              <a:buNone/>
            </a:pPr>
            <a:r>
              <a:rPr lang="en-US" sz="11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ที่พักปัว/บ่อเกลือคึกคักหน้าหนาว vs เงียบเหงาหน้าอื่น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oundRect">
            <a:avLst>
              <a:gd name="adj" fmla="val 2143"/>
            </a:avLst>
          </a:prstGeom>
          <a:solidFill>
            <a:srgbClr val="E7ECE0"/>
          </a:solidFill>
          <a:ln w="15875">
            <a:solidFill>
              <a:srgbClr val="6E8F52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37160" y="6355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ใส่ภาพ: </a:t>
            </a:r>
            <a:pPr algn="ctr" indent="0" marL="0">
              <a:buNone/>
            </a:pPr>
            <a:r>
              <a:rPr lang="en-US" sz="11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ถนนลอยฟ้าน่าน ช่วงหมอกหนาแน่น (สื่อถึงการเดินทางไกล)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406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ปัญหาที่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40680" y="73152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การกระจุกตัวและ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F3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ข้อจำกัดการเดินทาง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40680" y="2377440"/>
            <a:ext cx="6217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นักท่องเที่ยวกระจุกตัวช่วงหน้าหนาว ทำให้ที่พักในอำเภอปัวและบ่อเกลือแน่นเกินรับ ส่วนฤดูอื่นกลับซบเซา และเมื่อเศรษฐกิจผันผวนหรือราคาน้ำมันสูง แหล่งท่องเที่ยวไกลอย่างสะปันและบ่อเกลือยิ่งได้รับผลกระทบหนัก เพราะนักท่องเที่ยวขาดความมั่นใจในการเดินทาง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40680" y="4800600"/>
            <a:ext cx="548640" cy="548640"/>
          </a:xfrm>
          <a:prstGeom prst="ellipse">
            <a:avLst/>
          </a:prstGeom>
          <a:solidFill>
            <a:srgbClr val="8B5E34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48006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ความเสี่ยงเชิงเศรษฐกิจกระจุกตัวในไม่กี่เดือน ทำให้ชุมชนรายได้ไม่มั่นคง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7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ปัญหาที่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นักท่องเที่ยวไม่รู้เสน่ห์ของฤดูกาลอื่น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การค้นหาผ่าน Search Engine มักดึงเฉพาะ "สถานที่ยอดนิยม" มาแนะนำ โดยไม่ประเมินสภาพอากาศและบริบทของเดือนนั้น ๆ ทำให้ทริปได้ประสบการณ์ที่ไม่ตรงปก หรือเลือกไม่มาเที่ยวน่านในฤดูอื่นเลย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9D6C8"/>
            </a:solidFill>
            <a:prstDash val="solid"/>
          </a:ln>
          <a:effectLst>
            <a:outerShdw sx="100000" sy="100000" kx="0" ky="0" algn="bl" rotWithShape="0" blurRad="76200" dist="25400" dir="5400000">
              <a:srgbClr val="88887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3429000"/>
            <a:ext cx="411480" cy="411480"/>
          </a:xfrm>
          <a:prstGeom prst="ellipse">
            <a:avLst/>
          </a:prstGeom>
          <a:solidFill>
            <a:srgbClr val="6B6B5A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34564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ค้นหา: "ที่เที่ยวน่าน"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4526280"/>
            <a:ext cx="4937760" cy="0"/>
          </a:xfrm>
          <a:prstGeom prst="line">
            <a:avLst/>
          </a:prstGeom>
          <a:noFill/>
          <a:ln w="9525">
            <a:solidFill>
              <a:srgbClr val="D9D6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069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ดอยเสมอดาว (ยอดนิยม)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5074920"/>
            <a:ext cx="4937760" cy="0"/>
          </a:xfrm>
          <a:prstGeom prst="line">
            <a:avLst/>
          </a:prstGeom>
          <a:noFill/>
          <a:ln w="9525">
            <a:solidFill>
              <a:srgbClr val="D9D6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617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วัดภูมินทร์ (ยอดนิยม)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5623560"/>
            <a:ext cx="4937760" cy="0"/>
          </a:xfrm>
          <a:prstGeom prst="line">
            <a:avLst/>
          </a:prstGeom>
          <a:noFill/>
          <a:ln w="9525">
            <a:solidFill>
              <a:srgbClr val="D9D6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166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ถนนลอยฟ้า (ยอดนิยม)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5760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5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ไม่บอกว่าตอนนี้เดือนไหนควรไปที่ไหน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E7ECE0"/>
          </a:solidFill>
          <a:ln w="15875">
            <a:solidFill>
              <a:srgbClr val="6E8F52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355080" y="5806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ใส่ภาพ: </a:t>
            </a:r>
            <a:pPr algn="ctr" indent="0" marL="0">
              <a:buNone/>
            </a:pPr>
            <a:r>
              <a:rPr lang="en-US" sz="11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นักท่องเที่ยวเปิดมือถือดูแผนที่กลางทุ่งนา/ดอย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ปัญหาที่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3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ขาดความเชื่อมโยงกับเศรษฐกิจหมุนเวียน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การท่องเที่ยวเชิงธรรมชาติยังขาดการบูรณาการกับอัตลักษณ์และผลิตภัณฑ์ชุมชน ชุมชนต้องพึ่งพาสินค้านำเข้าจากภายนอก มากกว่าการหมุนเวียนเศรษฐกิจภายในท้องถิ่นของตนเอง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30906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กลุ่มทอผ้าบ้านซาวหลวง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34290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ยังเข้าไม่ถึงนักท่องเที่ยวคุณภาพ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9593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โฮมสเตย์ &amp; ร้านค้าเล็ก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42976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รายได้กระจุกอยู่กับธุรกิจรายใหญ่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84632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48280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F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ผลิตผลท้องถิ่น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51663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ขาดช่องทางเล่าเรื่องสู่นักเดินทาง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5303520" cy="4754880"/>
          </a:xfrm>
          <a:prstGeom prst="roundRect">
            <a:avLst>
              <a:gd name="adj" fmla="val 2308"/>
            </a:avLst>
          </a:prstGeom>
          <a:solidFill>
            <a:srgbClr val="EFE6D8"/>
          </a:solidFill>
          <a:ln w="15875">
            <a:solidFill>
              <a:srgbClr val="6E8F52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446520" y="5806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ใส่ภาพ: </a:t>
            </a:r>
            <a:pPr algn="ctr" indent="0" marL="0">
              <a:buNone/>
            </a:pPr>
            <a:r>
              <a:rPr lang="en-US" sz="11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ผ้าทอมือ / ผลิตภัณฑ์ชุมชนบ้านซาวหลวง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ทางออก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 Beyond AI คือผู้ช่วยเล่าเรื่องน่าน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ที่รู้จักทุกฤดูกาล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06324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8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ที่จับคู่สภาพอากาศ เทศกาล และความสนใจของผู้ใช้ เข้ากับบริบทของแต่ละเดือน เพื่อสร้างแผนเที่ยวที่ "ตรงปก" พร้อมแนะนำ Hidden Gems ของชุมชน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4434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แผนเที่ยวตามฤดูกาล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505663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505663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ปรับแผนได้แบบ Adaptive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567842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567842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เล่าเรื่องท้องถิ่นแบบ Local Guide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52360" y="1280160"/>
            <a:ext cx="4206240" cy="5120640"/>
          </a:xfrm>
          <a:prstGeom prst="roundRect">
            <a:avLst>
              <a:gd name="adj" fmla="val 2609"/>
            </a:avLst>
          </a:prstGeom>
          <a:solidFill>
            <a:srgbClr val="2C4A2C"/>
          </a:solidFill>
          <a:ln w="15875">
            <a:solidFill>
              <a:srgbClr val="6E8F52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589520" y="5897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ใส่ภาพ: </a:t>
            </a:r>
            <a:pPr algn="ctr" indent="0" marL="0">
              <a:buNone/>
            </a:pPr>
            <a:r>
              <a:rPr lang="en-US" sz="11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มือถือแสดงแผนเที่ยว AI คู่กับทุ่งนา/ทะเลหมอก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ประสบการณ์ 4 ฤดูกาล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น่าน มีเรื่องเล่าใหม่ทุก 3 เดือน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E7ECE0"/>
          </a:solidFill>
          <a:ln w="15875">
            <a:solidFill>
              <a:srgbClr val="6E8F52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85800" y="3794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ใส่ภาพ: </a:t>
            </a:r>
            <a:pPr algn="ctr" indent="0" marL="0">
              <a:buNone/>
            </a:pPr>
            <a:r>
              <a:rPr lang="en-US" sz="11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หน้าฝน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4370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หน้าฝน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พ.ค. - ต.ค.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4919472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นาข้าวเขียวขจี หมอกหลังฝน วิถีชุมชนเดินทางง่าย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55448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EFE6D8"/>
          </a:solidFill>
          <a:ln w="15875">
            <a:solidFill>
              <a:srgbClr val="6E8F52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520440" y="3794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ใส่ภาพ: </a:t>
            </a:r>
            <a:pPr algn="ctr" indent="0" marL="0">
              <a:buNone/>
            </a:pPr>
            <a:r>
              <a:rPr lang="en-US" sz="11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ปลายฝนต้นหนาว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4370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ปลายฝนต้นหนาว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4663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ต.ค. - พ.ย.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83280" y="4919472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นาข้าวสีทอง ทัศนวิสัยดี ขับรถเที่ยวถนนลอยฟ้า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E7ECE0"/>
          </a:solidFill>
          <a:ln w="15875">
            <a:solidFill>
              <a:srgbClr val="6E8F52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355080" y="3794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ใส่ภาพ: </a:t>
            </a:r>
            <a:pPr algn="ctr" indent="0" marL="0">
              <a:buNone/>
            </a:pPr>
            <a:r>
              <a:rPr lang="en-US" sz="11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หน้าหนาว (พีค)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4370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หน้าหนาว (พีค)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0" y="4663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ธ.ค. - ก.พ.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17920" y="4919472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อากาศหนาวจัด ทะเลหมอก กางเต็นท์ดูดาว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52560" y="155448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EFE6D8"/>
          </a:solidFill>
          <a:ln w="15875">
            <a:solidFill>
              <a:srgbClr val="6E8F52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9189720" y="3794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ใส่ภาพ: </a:t>
            </a:r>
            <a:pPr algn="ctr" indent="0" marL="0">
              <a:buNone/>
            </a:pPr>
            <a:r>
              <a:rPr lang="en-US" sz="11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หน้าร้อน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52560" y="4370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หน้าร้อน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052560" y="4663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มี.ค. - พ.ค.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052560" y="4919472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ท้องฟ้าโปร่ง วัดภูมินทร์ คาเฟ่ ถนนคนเดิน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ทำไมต้องเป็น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ไม่ใช่แค่แชทบอท แต่เป็นเอนจินแนะนำอัจฉริยะ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289304" y="178308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60320"/>
            <a:ext cx="1984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เดือนที่เดินทาง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10712" y="178308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2670048" y="2560320"/>
            <a:ext cx="1984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สภาพอากาศ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532120" y="178308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4791456" y="2560320"/>
            <a:ext cx="1984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เทศกาล &amp; กิจกรรมท้องถิ่น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53528" y="178308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6912864" y="2560320"/>
            <a:ext cx="1984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ความสนใจของผู้ใช้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774936" y="178308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9034272" y="2560320"/>
            <a:ext cx="1984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งบประมาณ &amp; ระยะเวลา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7ECE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20040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1F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ให้คำแนะนำพร้อม “คำอธิบายที่โปร่งใส” ว่าทำไมสถานที่นี้เหมาะกับช่วงเวลานี้ — ไม่ใช่แค่บอกว่าไปไหน แต่บอกว่า “ทำไม”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E7ECE0"/>
          </a:solidFill>
          <a:ln w="15875">
            <a:solidFill>
              <a:srgbClr val="6E8F52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85800" y="58064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ใส่ภาพ: </a:t>
            </a:r>
            <a:pPr algn="ctr" indent="0" marL="0">
              <a:buNone/>
            </a:pPr>
            <a:r>
              <a:rPr lang="en-US" sz="11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ทะเลหมอกยามเช้า ดอยเสมอดาว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4526280"/>
            <a:ext cx="5532120" cy="1783080"/>
          </a:xfrm>
          <a:prstGeom prst="roundRect">
            <a:avLst>
              <a:gd name="adj" fmla="val 6154"/>
            </a:avLst>
          </a:prstGeom>
          <a:solidFill>
            <a:srgbClr val="EFE6D8"/>
          </a:solidFill>
          <a:ln w="15875">
            <a:solidFill>
              <a:srgbClr val="6E8F52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217920" y="58064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ใส่ภาพ: </a:t>
            </a:r>
            <a:pPr algn="ctr" indent="0" marL="0">
              <a:buNone/>
            </a:pPr>
            <a:r>
              <a:rPr lang="en-US" sz="11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หน้าจอแอปแสดงคำอธิบายเหตุผลแนะนำ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เบื้องหลัง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Knowledge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ผสานข้อมูลทางการเข้ากับฐานความรู้ที่ทีมภัณฑ์ดูแลอย่างต่อเนื่อง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2585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F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ข้อมูลท่องเที่ยวทางการ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17320" y="25786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ททท. / Open Data / ปฏิทินเทศกาล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14400" y="2834640"/>
            <a:ext cx="0" cy="292608"/>
          </a:xfrm>
          <a:prstGeom prst="line">
            <a:avLst/>
          </a:prstGeom>
          <a:noFill/>
          <a:ln w="19050">
            <a:solidFill>
              <a:srgbClr val="6E8F52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40080" y="3127248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309981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F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ข้อมูลสภาพอากาศ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417320" y="341985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API แบบเรียลไทม์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" y="3675888"/>
            <a:ext cx="0" cy="292608"/>
          </a:xfrm>
          <a:prstGeom prst="line">
            <a:avLst/>
          </a:prstGeom>
          <a:noFill/>
          <a:ln w="19050">
            <a:solidFill>
              <a:srgbClr val="6E8F5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40080" y="3968496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394106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F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ฐานความรู้ท้องถิ่น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417320" y="426110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ทีมงานคัดสรรและใส่ metadata ฤดูกาล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4517136"/>
            <a:ext cx="0" cy="292608"/>
          </a:xfrm>
          <a:prstGeom prst="line">
            <a:avLst/>
          </a:prstGeom>
          <a:noFill/>
          <a:ln w="19050">
            <a:solidFill>
              <a:srgbClr val="6E8F5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40080" y="4809744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1417320" y="47823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F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 Engine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417320" y="51023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ประมวลผลและให้เหตุผลประกอบ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4400" y="5358384"/>
            <a:ext cx="0" cy="292608"/>
          </a:xfrm>
          <a:prstGeom prst="line">
            <a:avLst/>
          </a:prstGeom>
          <a:noFill/>
          <a:ln w="19050">
            <a:solidFill>
              <a:srgbClr val="6E8F5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40080" y="5650992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1417320" y="5623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F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แผนเที่ยวรายบุคคล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417320" y="5943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ส่งมอบแผนที่ตรงปกที่สุด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23560" y="2286000"/>
            <a:ext cx="5989320" cy="4160520"/>
          </a:xfrm>
          <a:prstGeom prst="roundRect">
            <a:avLst>
              <a:gd name="adj" fmla="val 2637"/>
            </a:avLst>
          </a:prstGeom>
          <a:solidFill>
            <a:srgbClr val="E7ECE0"/>
          </a:solidFill>
          <a:ln w="15875">
            <a:solidFill>
              <a:srgbClr val="6E8F52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760720" y="5943600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ใส่ภาพ: </a:t>
            </a:r>
            <a:pPr algn="ctr" indent="0" marL="0">
              <a:buNone/>
            </a:pPr>
            <a:r>
              <a:rPr lang="en-US" sz="11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ไดอะแกรมแอปพลิเคชันบนมือถือขณะสร้างแผนเที่ยว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เข้าใจผู้ใช้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ทำไมนักท่องเที่ยวเลือกที่ยอดนิยมเสมอ?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เพราะเวลาจำกัดและข้อมูลกระจัดกระจาย นักท่องเที่ยวจึงใช้ผลการค้นหา/โซเชียลเป็นทางลัด ซึ่งเน้นความนิยมมากกว่าความเหมาะสมกับฤดูกาล ทำให้ความคาดหวังไม่ตรงกับประสบการณ์จริง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6309360" cy="3657600"/>
          </a:xfrm>
          <a:prstGeom prst="roundRect">
            <a:avLst>
              <a:gd name="adj" fmla="val 3000"/>
            </a:avLst>
          </a:prstGeom>
          <a:solidFill>
            <a:srgbClr val="E7ECE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301752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E7ECE0"/>
          </a:solidFill>
          <a:ln w="15875">
            <a:solidFill>
              <a:srgbClr val="6E8F5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960120" y="4069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ใส่ภาพ: </a:t>
            </a:r>
            <a:pPr algn="ctr" indent="0" marL="0">
              <a:buNone/>
            </a:pPr>
            <a:r>
              <a:rPr lang="en-US" sz="11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มินท์ 27 ปี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3063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มินท์ (Mint)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60320" y="34747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ปี · พนักงานออฟฟิศ / สายดิจิทัล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เที่ยวทริป 2-4 วันกับเพื่อน/แฟน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709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50292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ไม่แน่ใจว่าที่ไหนสวยจริงในเดือนที่ไป
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เวลาหาข้อมูลมีจำกัด
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อยากได้ประสบการณ์แท้ ไม่ใช่ที่คนแน่น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0" y="4709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931920" y="502920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ได้แผนเที่ยวเฉพาะบุคคล ที่ตรงกับเดือน สภาพอากาศ ความสนใจ และเวลาที่มี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78040" y="1508760"/>
            <a:ext cx="4480560" cy="4892040"/>
          </a:xfrm>
          <a:prstGeom prst="roundRect">
            <a:avLst>
              <a:gd name="adj" fmla="val 2449"/>
            </a:avLst>
          </a:prstGeom>
          <a:solidFill>
            <a:srgbClr val="EFE6D8"/>
          </a:solidFill>
          <a:ln w="15875">
            <a:solidFill>
              <a:srgbClr val="6E8F52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315200" y="5897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ใส่ภาพ: </a:t>
            </a:r>
            <a:pPr algn="ctr" indent="0" marL="0">
              <a:buNone/>
            </a:pPr>
            <a:r>
              <a:rPr lang="en-US" sz="11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นักท่องเที่ยวหญิงถ่ายรูปคาเฟ่วิวนาข้าวน่าน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จุดต่าง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ต่างจาก Search / แพลตฟอร์มท่องเที่ยวทั่วไปอย่างไร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Search / Platform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35040" y="1691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Beyond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029200" cy="649224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9525">
            <a:solidFill>
              <a:srgbClr val="D9D6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86000"/>
            <a:ext cx="457200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แนะนำตามความนิยม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2286000"/>
            <a:ext cx="5029200" cy="649224"/>
          </a:xfrm>
          <a:prstGeom prst="roundRect">
            <a:avLst>
              <a:gd name="adj" fmla="val 11268"/>
            </a:avLst>
          </a:prstGeom>
          <a:solidFill>
            <a:srgbClr val="E7ECE0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2286000"/>
            <a:ext cx="457200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แนะนำตามความเหมาะสมของฤดูกาล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72384"/>
            <a:ext cx="5029200" cy="649224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9525">
            <a:solidFill>
              <a:srgbClr val="D9D6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072384"/>
            <a:ext cx="457200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ผลค้นหาแบบตายตัว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3072384"/>
            <a:ext cx="5029200" cy="649224"/>
          </a:xfrm>
          <a:prstGeom prst="roundRect">
            <a:avLst>
              <a:gd name="adj" fmla="val 11268"/>
            </a:avLst>
          </a:prstGeom>
          <a:solidFill>
            <a:srgbClr val="E7ECE0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3072384"/>
            <a:ext cx="457200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แผนเที่ยวเฉพาะบุคคล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58768"/>
            <a:ext cx="5029200" cy="649224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9525">
            <a:solidFill>
              <a:srgbClr val="D9D6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58768"/>
            <a:ext cx="457200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ไม่อธิบายเหตุผล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3858768"/>
            <a:ext cx="5029200" cy="649224"/>
          </a:xfrm>
          <a:prstGeom prst="roundRect">
            <a:avLst>
              <a:gd name="adj" fmla="val 11268"/>
            </a:avLst>
          </a:prstGeom>
          <a:solidFill>
            <a:srgbClr val="E7ECE0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858768"/>
            <a:ext cx="457200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อธิบายว่า "ทำไม" ถึงเหมาะกับช่วงนี้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645152"/>
            <a:ext cx="5029200" cy="649224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9525">
            <a:solidFill>
              <a:srgbClr val="D9D6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645152"/>
            <a:ext cx="457200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ข้อมูลทั่วไป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35040" y="4645152"/>
            <a:ext cx="5029200" cy="649224"/>
          </a:xfrm>
          <a:prstGeom prst="roundRect">
            <a:avLst>
              <a:gd name="adj" fmla="val 11268"/>
            </a:avLst>
          </a:prstGeom>
          <a:solidFill>
            <a:srgbClr val="E7ECE0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4645152"/>
            <a:ext cx="457200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เรื่องเล่าท้องถิ่นและ Hidden Gems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431536"/>
            <a:ext cx="5029200" cy="649224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9525">
            <a:solidFill>
              <a:srgbClr val="D9D6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431536"/>
            <a:ext cx="457200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วางแผนเอง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35040" y="5431536"/>
            <a:ext cx="5029200" cy="649224"/>
          </a:xfrm>
          <a:prstGeom prst="roundRect">
            <a:avLst>
              <a:gd name="adj" fmla="val 11268"/>
            </a:avLst>
          </a:prstGeom>
          <a:solidFill>
            <a:srgbClr val="E7ECE0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5431536"/>
            <a:ext cx="457200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AI ปรับแผนให้อัตโนมัติ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ขนาดตลาด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โอกาสทางตลาดของนักเดินทางคุณภาพ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88720" y="1828800"/>
            <a:ext cx="4206240" cy="4206240"/>
          </a:xfrm>
          <a:prstGeom prst="ellipse">
            <a:avLst/>
          </a:prstGeom>
          <a:solidFill>
            <a:srgbClr val="2C4A2C"/>
          </a:solidFill>
          <a:ln w="19050">
            <a:solidFill>
              <a:srgbClr val="6E8F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3017520"/>
            <a:ext cx="3017520" cy="3017520"/>
          </a:xfrm>
          <a:prstGeom prst="ellipse">
            <a:avLst/>
          </a:prstGeom>
          <a:solidFill>
            <a:srgbClr val="2C4A2C"/>
          </a:solidFill>
          <a:ln w="19050">
            <a:solidFill>
              <a:srgbClr val="6E8F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4206240"/>
            <a:ext cx="1828800" cy="1828800"/>
          </a:xfrm>
          <a:prstGeom prst="ellipse">
            <a:avLst/>
          </a:prstGeom>
          <a:solidFill>
            <a:srgbClr val="2C4A2C"/>
          </a:solidFill>
          <a:ln w="19050">
            <a:solidFill>
              <a:srgbClr val="6E8F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417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1.48 ล้านคน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83080" y="2651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3063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Creative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Tourism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77440" y="4480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48006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22-35 ปี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Adopters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141732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นักท่องเที่ยวทั้งหมดที่เข้าน่าน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(สถานีตำรวจท่องเที่ยวน่าน 2567)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17920" y="288036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นักเดินทางคุณภาพ ตามนโยบาย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อพท. น่าน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17920" y="425196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Adopters: สาย Digital Nomad,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Workation, Backpacker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ผู้มีส่วนได้ส่วนเสีย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คุณค่าที่ส่งถึงทุกฝ่าย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E7ECE0"/>
          </a:solidFill>
          <a:ln/>
        </p:spPr>
      </p:sp>
      <p:sp>
        <p:nvSpPr>
          <p:cNvPr id="5" name="Shape 3"/>
          <p:cNvSpPr/>
          <p:nvPr/>
        </p:nvSpPr>
        <p:spPr>
          <a:xfrm>
            <a:off x="1965960" y="20574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นักท่องเที่ยว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56616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แผนเที่ยวที่ตรงปกและสวยงาม พร้อม Adaptive Planner ปรับแผนสำรองได้ทันทีเมื่อฝนตกหรือร้านปิด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EFE6D8"/>
          </a:solidFill>
          <a:ln/>
        </p:spPr>
      </p:sp>
      <p:sp>
        <p:nvSpPr>
          <p:cNvPr id="9" name="Shape 7"/>
          <p:cNvSpPr/>
          <p:nvPr/>
        </p:nvSpPr>
        <p:spPr>
          <a:xfrm>
            <a:off x="5715000" y="20574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ธุรกิจ &amp; ชุมชนท้องถิ่น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356616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กระจายรายได้สู่กลุ่มสร้างสรรค์ เช่น กลุ่มทอผ้า ผ่าน AI Storytelling ที่แนะนำ Hidden Gems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E7ECE0"/>
          </a:solidFill>
          <a:ln/>
        </p:spPr>
      </p:sp>
      <p:sp>
        <p:nvSpPr>
          <p:cNvPr id="13" name="Shape 11"/>
          <p:cNvSpPr/>
          <p:nvPr/>
        </p:nvSpPr>
        <p:spPr>
          <a:xfrm>
            <a:off x="9464040" y="20574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หน่วยงานรัฐ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356616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ตอบวิสัยทัศน์ Smart Tourism และเป็นเครื่องมือจัดการ Big Data พฤติกรรมนักท่องเที่ยว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ผลลัพธ์ที่วัดได้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KPI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ลดความเสี่ยงเศรษฐกิจจากฤดูกาล กระจายรายได้ตลอด 12 เดือน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78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31620" y="25146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2240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จำนวนแผนเที่ยวที่สร้างผ่าน 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219456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78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20540" y="25146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3749040"/>
            <a:ext cx="2240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จำนวน Hidden Gems ที่ถูกเลือกใส่แพลนเนอร์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19456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78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09460" y="25146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Season Boost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3749040"/>
            <a:ext cx="2240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อัตราเข้าพัก &amp; ระยะพำนักที่เพิ่มขึ้นช่วง Low Season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15400" y="219456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78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898380" y="25146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0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Satisfaction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98280" y="3749040"/>
            <a:ext cx="2240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ความพึงพอใจต่อประสบการณ์ที่ตรงฤดูกาล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เส้นทางข้างหน้า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จาก Hackathon Prototype สู่ธุรกิจจริง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423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วันนี้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พิสูจน์ความเป็นไปได้ และคุณภาพคำแนะนำของ AI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51960" y="173736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2423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ระยะถัดไป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51960" y="27889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เปิดลงทะเบียนธุรกิจท้องถิ่น แพ็กเกจโปรโมตร้าน/โฮมสเตย์ช่วง Low Season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173736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0" y="2423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อนาคต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55280" y="27889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ระบบจอง &amp; Affiliate โดยจัดอันดับตามความเหมาะสม ไม่ใช่การจ่ายเงินโปรโมต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11064240" cy="0"/>
          </a:xfrm>
          <a:prstGeom prst="line">
            <a:avLst/>
          </a:prstGeom>
          <a:noFill/>
          <a:ln w="12700">
            <a:solidFill>
              <a:srgbClr val="3E5C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526280"/>
            <a:ext cx="457200" cy="457200"/>
          </a:xfrm>
          <a:prstGeom prst="ellipse">
            <a:avLst/>
          </a:prstGeom>
          <a:solidFill>
            <a:srgbClr val="8B5E34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52628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ข้อควรระวัง: คุณภาพคำแนะนำขึ้นกับความครบถ้วนของข้อมูล และต้องอัปเดตข้อมูลธุรกิจท้องถิ่นต่อเนื่อง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349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มาเปิดน่านให้โลกเห็นทุกฤดูกาลไปด้วยกัน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Beyond AI — Beyond the Popular Season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2026-07-13T15:39:54Z</dcterms:created>
  <dcterms:modified xsi:type="dcterms:W3CDTF">2026-07-13T15:39:54Z</dcterms:modified>
</cp:coreProperties>
</file>